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2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690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609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2412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52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064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75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298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0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231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8346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461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690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379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494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609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724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838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5953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068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183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298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412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652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064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475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887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298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445752" y="640080"/>
            <a:ext cx="2194560" cy="365760"/>
          </a:xfrm>
          <a:prstGeom prst="rect">
            <a:avLst/>
          </a:prstGeom>
          <a:solidFill>
            <a:srgbClr val="0D1626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82912" y="758952"/>
            <a:ext cx="128016" cy="128016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5" name="Text 63"/>
          <p:cNvSpPr/>
          <p:nvPr/>
        </p:nvSpPr>
        <p:spPr>
          <a:xfrm>
            <a:off x="9811512" y="640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· 발표 중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solidFill>
            <a:srgbClr val="0D1626"/>
          </a:solidFill>
          <a:ln w="19050">
            <a:solidFill>
              <a:srgbClr val="FFB62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野</a:t>
            </a:r>
            <a:endParaRPr lang="en-US" sz="3200" dirty="0"/>
          </a:p>
        </p:txBody>
      </p:sp>
      <p:sp>
        <p:nvSpPr>
          <p:cNvPr id="68" name="Text 66"/>
          <p:cNvSpPr/>
          <p:nvPr/>
        </p:nvSpPr>
        <p:spPr>
          <a:xfrm>
            <a:off x="141732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MANCHU · CORPORATION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417320" y="987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· GAME · CONNECTION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57200" y="1828800"/>
            <a:ext cx="11274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만추</a:t>
            </a:r>
            <a:endParaRPr lang="en-US" sz="18000" dirty="0"/>
          </a:p>
        </p:txBody>
      </p:sp>
      <p:sp>
        <p:nvSpPr>
          <p:cNvPr id="71" name="Text 69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1800" kern="0" dirty="0">
                <a:solidFill>
                  <a:srgbClr val="F4ECD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CORPORATION</a:t>
            </a:r>
            <a:endParaRPr lang="en-US" sz="3600" dirty="0"/>
          </a:p>
        </p:txBody>
      </p:sp>
      <p:sp>
        <p:nvSpPr>
          <p:cNvPr id="72" name="Shape 70"/>
          <p:cNvSpPr/>
          <p:nvPr/>
        </p:nvSpPr>
        <p:spPr>
          <a:xfrm>
            <a:off x="4265676" y="4069080"/>
            <a:ext cx="3657600" cy="5486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3" name="Text 71"/>
          <p:cNvSpPr/>
          <p:nvPr/>
        </p:nvSpPr>
        <p:spPr>
          <a:xfrm>
            <a:off x="457200" y="44348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만남을 데이터로 정의하고,</a:t>
            </a:r>
            <a:endParaRPr lang="en-US" sz="2600" dirty="0"/>
          </a:p>
        </p:txBody>
      </p:sp>
      <p:sp>
        <p:nvSpPr>
          <p:cNvPr id="74" name="Text 72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기반 관계 연결 솔루션을 만드는 회사</a:t>
            </a:r>
            <a:endParaRPr lang="en-US" sz="2600" dirty="0"/>
          </a:p>
        </p:txBody>
      </p:sp>
      <p:sp>
        <p:nvSpPr>
          <p:cNvPr id="75" name="Text 73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2026 · POST · GAME · DEMO ★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2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690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609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2412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52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064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75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298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0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231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8346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461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690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379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494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609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724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838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5953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068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183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298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412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652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064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475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887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298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634472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4864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CHAPTER · 01 · DEFINITION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82296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만남이란 무엇인가?</a:t>
            </a:r>
            <a:endParaRPr lang="en-US" sz="5600" dirty="0"/>
          </a:p>
        </p:txBody>
      </p:sp>
      <p:sp>
        <p:nvSpPr>
          <p:cNvPr id="66" name="Text 64"/>
          <p:cNvSpPr/>
          <p:nvPr/>
        </p:nvSpPr>
        <p:spPr>
          <a:xfrm>
            <a:off x="548640" y="1783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A MEANINGFUL ENCOUNTER?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40080" y="2468880"/>
            <a:ext cx="3657600" cy="338328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2468880"/>
            <a:ext cx="3657600" cy="45720"/>
          </a:xfrm>
          <a:prstGeom prst="rect">
            <a:avLst/>
          </a:prstGeom>
          <a:solidFill>
            <a:srgbClr val="FFB627">
              <a:alpha val="6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22960" y="2606040"/>
            <a:ext cx="1645920" cy="292608"/>
          </a:xfrm>
          <a:prstGeom prst="rect">
            <a:avLst/>
          </a:prstGeom>
          <a:solidFill>
            <a:srgbClr val="0D1626"/>
          </a:solidFill>
          <a:ln w="9525">
            <a:solidFill>
              <a:srgbClr val="FF4D4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2960" y="2606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 · A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22960" y="2971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직접적인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데이팅 앱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822960" y="4114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Tinder, 중년만남 등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22960" y="4434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목적이 명확함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822960" y="4754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부담 · 진입장벽 높음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822960" y="5074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프로필 · 사진 의존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572000" y="2468880"/>
            <a:ext cx="3044952" cy="3383280"/>
          </a:xfrm>
          <a:prstGeom prst="rect">
            <a:avLst/>
          </a:prstGeom>
          <a:solidFill>
            <a:srgbClr val="0D16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72000" y="2468880"/>
            <a:ext cx="3044952" cy="45720"/>
          </a:xfrm>
          <a:prstGeom prst="rect">
            <a:avLst/>
          </a:prstGeom>
          <a:solidFill>
            <a:srgbClr val="FFB627">
              <a:alpha val="6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4572000" y="2468880"/>
            <a:ext cx="30449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9" name="Shape 77"/>
          <p:cNvSpPr/>
          <p:nvPr/>
        </p:nvSpPr>
        <p:spPr>
          <a:xfrm>
            <a:off x="4572000" y="5779008"/>
            <a:ext cx="30449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0" name="Shape 78"/>
          <p:cNvSpPr/>
          <p:nvPr/>
        </p:nvSpPr>
        <p:spPr>
          <a:xfrm>
            <a:off x="4754880" y="2697480"/>
            <a:ext cx="2194560" cy="292608"/>
          </a:xfrm>
          <a:prstGeom prst="rect">
            <a:avLst/>
          </a:prstGeom>
          <a:solidFill>
            <a:srgbClr val="0D1626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54880" y="2697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MANCHU · ZONE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4754880" y="3063240"/>
            <a:ext cx="2679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만추가 보는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지대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4754880" y="420624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자연스럽지만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방향성 있는 만남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754880" y="5212080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경험 데이터 기반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4754880" y="5486400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같은 순간 · 같은 감정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7891272" y="2468880"/>
            <a:ext cx="3657600" cy="338328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891272" y="2468880"/>
            <a:ext cx="3657600" cy="45720"/>
          </a:xfrm>
          <a:prstGeom prst="rect">
            <a:avLst/>
          </a:prstGeom>
          <a:solidFill>
            <a:srgbClr val="FFB627">
              <a:alpha val="6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8074152" y="2606040"/>
            <a:ext cx="1645920" cy="292608"/>
          </a:xfrm>
          <a:prstGeom prst="rect">
            <a:avLst/>
          </a:prstGeom>
          <a:solidFill>
            <a:srgbClr val="0D1626"/>
          </a:solidFill>
          <a:ln w="9525">
            <a:solidFill>
              <a:srgbClr val="5EC8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074152" y="2606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 · B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8074152" y="2971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모호한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앱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8074152" y="4114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소모임, 커뮤니티 등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8074152" y="4434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너무 넓고 모호함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074152" y="4754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관계 형성은 방치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8074152" y="5074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방향성 부재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만추는 관계가 생길 조건을 설계한다.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2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690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609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2412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52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064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75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298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0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231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8346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461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690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379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494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609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724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838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5953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068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183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298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412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652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064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475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887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298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634472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4864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CHAPTER · 02 · FRAMEWORK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만추 Framework</a:t>
            </a:r>
            <a:endParaRPr lang="en-US" sz="4800" dirty="0"/>
          </a:p>
        </p:txBody>
      </p:sp>
      <p:sp>
        <p:nvSpPr>
          <p:cNvPr id="66" name="Text 64"/>
          <p:cNvSpPr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카드가 여러 경험을 지나며 진화한다.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48640" y="2286000"/>
            <a:ext cx="3703320" cy="1691640"/>
          </a:xfrm>
          <a:prstGeom prst="rect">
            <a:avLst/>
          </a:prstGeom>
          <a:solidFill>
            <a:srgbClr val="0D1626"/>
          </a:solidFill>
          <a:ln w="19050">
            <a:solidFill>
              <a:srgbClr val="FFB62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2514600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YAMANCHU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31520" y="27432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야만추</a:t>
            </a:r>
            <a:endParaRPr lang="en-US" sz="3600" dirty="0"/>
          </a:p>
        </p:txBody>
      </p:sp>
      <p:sp>
        <p:nvSpPr>
          <p:cNvPr id="71" name="Text 69"/>
          <p:cNvSpPr/>
          <p:nvPr/>
        </p:nvSpPr>
        <p:spPr>
          <a:xfrm>
            <a:off x="731520" y="3429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야구장에서 만남 추구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3063240" y="3566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FIRST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343400" y="2286000"/>
            <a:ext cx="3703320" cy="169164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8056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A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309360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CHUKMANCHU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526280" y="27432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축만추</a:t>
            </a:r>
            <a:endParaRPr lang="en-US" sz="3600" dirty="0"/>
          </a:p>
        </p:txBody>
      </p:sp>
      <p:sp>
        <p:nvSpPr>
          <p:cNvPr id="77" name="Text 75"/>
          <p:cNvSpPr/>
          <p:nvPr/>
        </p:nvSpPr>
        <p:spPr>
          <a:xfrm>
            <a:off x="4526280" y="3429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축구장에서 만남 추구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8138160" y="2286000"/>
            <a:ext cx="3703320" cy="169164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7532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A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0104120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BAEMANCHU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321040" y="27432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배만추</a:t>
            </a:r>
            <a:endParaRPr lang="en-US" sz="3600" dirty="0"/>
          </a:p>
        </p:txBody>
      </p:sp>
      <p:sp>
        <p:nvSpPr>
          <p:cNvPr id="82" name="Text 80"/>
          <p:cNvSpPr/>
          <p:nvPr/>
        </p:nvSpPr>
        <p:spPr>
          <a:xfrm>
            <a:off x="8321040" y="3429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배드민턴에서 만남 추구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548640" y="4114800"/>
            <a:ext cx="3703320" cy="169164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580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A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51460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YOMANCHU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731520" y="45720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요만추</a:t>
            </a:r>
            <a:endParaRPr lang="en-US" sz="3600" dirty="0"/>
          </a:p>
        </p:txBody>
      </p:sp>
      <p:sp>
        <p:nvSpPr>
          <p:cNvPr id="87" name="Text 85"/>
          <p:cNvSpPr/>
          <p:nvPr/>
        </p:nvSpPr>
        <p:spPr>
          <a:xfrm>
            <a:off x="731520" y="5257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요리에서 만남 추구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4343400" y="4114800"/>
            <a:ext cx="3703320" cy="169164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8056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A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30936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AEMANCHU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526280" y="45720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애만추</a:t>
            </a:r>
            <a:endParaRPr lang="en-US" sz="3600" dirty="0"/>
          </a:p>
        </p:txBody>
      </p:sp>
      <p:sp>
        <p:nvSpPr>
          <p:cNvPr id="92" name="Text 90"/>
          <p:cNvSpPr/>
          <p:nvPr/>
        </p:nvSpPr>
        <p:spPr>
          <a:xfrm>
            <a:off x="4526280" y="5257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애니메이션에서 만남 추구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8138160" y="4114800"/>
            <a:ext cx="3703320" cy="169164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7532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A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1010412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METAMANCHU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8321040" y="45720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메만추</a:t>
            </a:r>
            <a:endParaRPr lang="en-US" sz="3600" dirty="0"/>
          </a:p>
        </p:txBody>
      </p:sp>
      <p:sp>
        <p:nvSpPr>
          <p:cNvPr id="97" name="Text 95"/>
          <p:cNvSpPr/>
          <p:nvPr/>
        </p:nvSpPr>
        <p:spPr>
          <a:xfrm>
            <a:off x="8321040" y="5257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메타버스 아카데미 적용 사례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solidFill>
            <a:srgbClr val="0D1626"/>
          </a:solidFill>
          <a:ln w="12700">
            <a:solidFill>
              <a:srgbClr val="3AFF7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1520" y="5989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카드는 한 서비스에서 끝나지 않는다 — 야만추 카드가 축만추로, 배만추로, 요만추로 이동하며 감정 데이터가 누적된다.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2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690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609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2412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52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064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75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298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0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231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8346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461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690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379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494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609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724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838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5953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068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183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298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412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652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064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475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887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298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634472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4864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CHAPTER · 03 · MARKET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스포츠 직관인가?</a:t>
            </a:r>
            <a:endParaRPr lang="en-US" sz="4800" dirty="0"/>
          </a:p>
        </p:txBody>
      </p:sp>
      <p:sp>
        <p:nvSpPr>
          <p:cNvPr id="66" name="Text 64"/>
          <p:cNvSpPr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· LIVE · SPORTS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48640" y="2286000"/>
            <a:ext cx="6858000" cy="402336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640" y="2286000"/>
            <a:ext cx="6858000" cy="45720"/>
          </a:xfrm>
          <a:prstGeom prst="rect">
            <a:avLst/>
          </a:prstGeom>
          <a:solidFill>
            <a:srgbClr val="FFB627">
              <a:alpha val="6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731520" y="23317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FB62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"</a:t>
            </a:r>
            <a:endParaRPr lang="en-US" sz="8000" dirty="0"/>
          </a:p>
        </p:txBody>
      </p:sp>
      <p:sp>
        <p:nvSpPr>
          <p:cNvPr id="70" name="Text 68"/>
          <p:cNvSpPr/>
          <p:nvPr/>
        </p:nvSpPr>
        <p:spPr>
          <a:xfrm>
            <a:off x="822960" y="2743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스포츠는</a:t>
            </a:r>
            <a:endParaRPr lang="en-US" sz="3600" dirty="0"/>
          </a:p>
        </p:txBody>
      </p:sp>
      <p:sp>
        <p:nvSpPr>
          <p:cNvPr id="71" name="Text 69"/>
          <p:cNvSpPr/>
          <p:nvPr/>
        </p:nvSpPr>
        <p:spPr>
          <a:xfrm>
            <a:off x="822960" y="3383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응축된 감정 에너지를</a:t>
            </a:r>
            <a:endParaRPr lang="en-US" sz="3600" dirty="0"/>
          </a:p>
        </p:txBody>
      </p:sp>
      <p:sp>
        <p:nvSpPr>
          <p:cNvPr id="72" name="Text 70"/>
          <p:cNvSpPr/>
          <p:nvPr/>
        </p:nvSpPr>
        <p:spPr>
          <a:xfrm>
            <a:off x="822960" y="4023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 표출하는</a:t>
            </a:r>
            <a:endParaRPr lang="en-US" sz="3600" dirty="0"/>
          </a:p>
        </p:txBody>
      </p:sp>
      <p:sp>
        <p:nvSpPr>
          <p:cNvPr id="73" name="Text 71"/>
          <p:cNvSpPr/>
          <p:nvPr/>
        </p:nvSpPr>
        <p:spPr>
          <a:xfrm>
            <a:off x="822960" y="4663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창구다.</a:t>
            </a:r>
            <a:endParaRPr lang="en-US" sz="3600" dirty="0"/>
          </a:p>
        </p:txBody>
      </p:sp>
      <p:sp>
        <p:nvSpPr>
          <p:cNvPr id="74" name="Text 72"/>
          <p:cNvSpPr/>
          <p:nvPr/>
        </p:nvSpPr>
        <p:spPr>
          <a:xfrm>
            <a:off x="822960" y="5532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일상에서는 절제, 경기장에서는 폭발. 사람의 진짜 반응이 자연스럽게 드러난다.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7589520" y="2286000"/>
            <a:ext cx="4050792" cy="4023360"/>
          </a:xfrm>
          <a:prstGeom prst="rect">
            <a:avLst/>
          </a:prstGeom>
          <a:solidFill>
            <a:srgbClr val="0D16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89520" y="2286000"/>
            <a:ext cx="4050792" cy="45720"/>
          </a:xfrm>
          <a:prstGeom prst="rect">
            <a:avLst/>
          </a:prstGeom>
          <a:solidFill>
            <a:srgbClr val="FFB627">
              <a:alpha val="6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777240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트리거 모먼트</a:t>
            </a:r>
            <a:endParaRPr lang="en-US" sz="1700" dirty="0"/>
          </a:p>
        </p:txBody>
      </p:sp>
      <p:sp>
        <p:nvSpPr>
          <p:cNvPr id="78" name="Text 76"/>
          <p:cNvSpPr/>
          <p:nvPr/>
        </p:nvSpPr>
        <p:spPr>
          <a:xfrm>
            <a:off x="77724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EMOTION · TRIGGER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7724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827532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홈런이 터지는 순간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827532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환호 · 점프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7724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827532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역전 찬스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827532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· 긴장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7724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827532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9회말 위기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8275320" y="4617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몰입 · 응원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7724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8275320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응원가 · 파도타기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8275320" y="5212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 · 리듬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77240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827532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후 후토크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275320" y="5806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여운 · 대화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2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690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609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2412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52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064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75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298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0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231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8346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461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690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379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494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609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724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838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5953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068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183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298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412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652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064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475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887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298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634472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4864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CHAPTER · 04 · FIRST · SERVICE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· LAUNCH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48640" y="1143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서비스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548640" y="16916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야만추</a:t>
            </a:r>
            <a:endParaRPr lang="en-US" sz="13000" dirty="0"/>
          </a:p>
        </p:txBody>
      </p:sp>
      <p:sp>
        <p:nvSpPr>
          <p:cNvPr id="68" name="Text 66"/>
          <p:cNvSpPr/>
          <p:nvPr/>
        </p:nvSpPr>
        <p:spPr>
          <a:xfrm>
            <a:off x="54864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EC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YAMANCHU · 野慢追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54864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야구장에서 만남을 추구하다</a:t>
            </a:r>
            <a:endParaRPr lang="en-US" sz="2400" dirty="0"/>
          </a:p>
        </p:txBody>
      </p:sp>
      <p:sp>
        <p:nvSpPr>
          <p:cNvPr id="70" name="Shape 68"/>
          <p:cNvSpPr/>
          <p:nvPr/>
        </p:nvSpPr>
        <p:spPr>
          <a:xfrm>
            <a:off x="8229600" y="914400"/>
            <a:ext cx="3410712" cy="5394960"/>
          </a:xfrm>
          <a:prstGeom prst="rect">
            <a:avLst/>
          </a:prstGeom>
          <a:solidFill>
            <a:srgbClr val="0D16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0" y="914400"/>
            <a:ext cx="3410712" cy="45720"/>
          </a:xfrm>
          <a:prstGeom prst="rect">
            <a:avLst/>
          </a:prstGeom>
          <a:solidFill>
            <a:srgbClr val="FFB627">
              <a:alpha val="6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841248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· MODE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4124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데이팅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412480" y="1810512"/>
            <a:ext cx="3017520" cy="36576"/>
          </a:xfrm>
          <a:prstGeom prst="rect">
            <a:avLst/>
          </a:prstGeom>
          <a:solidFill>
            <a:srgbClr val="9AA6C5">
              <a:alpha val="5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841248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사진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841248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프로필 텍스트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841248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관심사 태그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841248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 VS  ▼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841248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야만추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412480" y="3822192"/>
            <a:ext cx="3017520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1" name="Text 79"/>
          <p:cNvSpPr/>
          <p:nvPr/>
        </p:nvSpPr>
        <p:spPr>
          <a:xfrm>
            <a:off x="841248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경기 중 감정 반응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841248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응원 동조 데이터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8412480" y="4480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라이브 성향 카드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8412480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경기 후 오프라인 연결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8412480" y="5303520"/>
            <a:ext cx="3017520" cy="868680"/>
          </a:xfrm>
          <a:prstGeom prst="rect">
            <a:avLst/>
          </a:prstGeom>
          <a:solidFill>
            <a:srgbClr val="0C1426"/>
          </a:solidFill>
          <a:ln w="12700">
            <a:solidFill>
              <a:srgbClr val="3AFF7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412480" y="5349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LIVE CARD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412480" y="5623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볼수록 진화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54864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사진과 프로필이 아니라, 경기 중 감정 반응으로 연결한다.</a:t>
            </a:r>
            <a:endParaRPr lang="en-US" sz="1700" dirty="0"/>
          </a:p>
        </p:txBody>
      </p:sp>
      <p:sp>
        <p:nvSpPr>
          <p:cNvPr id="89" name="Text 87"/>
          <p:cNvSpPr/>
          <p:nvPr/>
        </p:nvSpPr>
        <p:spPr>
          <a:xfrm>
            <a:off x="548640" y="5074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홈런 환호 · 파도타기 타이밍 · 9회말 몰입도 · 후토크 리듬을 데이터화해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라이브 성향 카드가 매 경기마다 업데이트된다.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2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690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609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2412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52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064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75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298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0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231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8346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461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690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379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494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609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724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838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5953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068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183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298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412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652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064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475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887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298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634472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4864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CHAPTER · 05 · USER · FLOW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Flow Architecture</a:t>
            </a:r>
            <a:endParaRPr lang="en-US" sz="4400" dirty="0"/>
          </a:p>
        </p:txBody>
      </p:sp>
      <p:sp>
        <p:nvSpPr>
          <p:cNvPr id="66" name="Text 64"/>
          <p:cNvSpPr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전 → 경기 중 → 경기 후, 관계 경험을 잇는 7단계 흐름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4864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· 01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4864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전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548640" y="2971800"/>
            <a:ext cx="3840480" cy="36576"/>
          </a:xfrm>
          <a:prstGeom prst="rect">
            <a:avLst/>
          </a:prstGeom>
          <a:solidFill>
            <a:srgbClr val="5EC8FF">
              <a:alpha val="7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· 02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5720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중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4572000" y="2971800"/>
            <a:ext cx="3840480" cy="36576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8595360" y="22860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· 03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595360" y="2560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후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8595360" y="2971800"/>
            <a:ext cx="3044952" cy="36576"/>
          </a:xfrm>
          <a:prstGeom prst="rect">
            <a:avLst/>
          </a:prstGeom>
          <a:solidFill>
            <a:srgbClr val="3AFF7C">
              <a:alpha val="7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548640" y="3246120"/>
            <a:ext cx="1517904" cy="2286000"/>
          </a:xfrm>
          <a:prstGeom prst="rect">
            <a:avLst/>
          </a:prstGeom>
          <a:solidFill>
            <a:srgbClr val="0D1626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8640" y="3246120"/>
            <a:ext cx="1517904" cy="54864"/>
          </a:xfrm>
          <a:prstGeom prst="rect">
            <a:avLst/>
          </a:prstGeom>
          <a:solidFill>
            <a:srgbClr val="5EC8FF"/>
          </a:solidFill>
          <a:ln/>
        </p:spPr>
      </p:sp>
      <p:sp>
        <p:nvSpPr>
          <p:cNvPr id="78" name="Text 76"/>
          <p:cNvSpPr/>
          <p:nvPr/>
        </p:nvSpPr>
        <p:spPr>
          <a:xfrm>
            <a:off x="640080" y="34290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5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79" name="Text 77"/>
          <p:cNvSpPr/>
          <p:nvPr/>
        </p:nvSpPr>
        <p:spPr>
          <a:xfrm>
            <a:off x="640080" y="397764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성향 카드 발급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640080" y="49377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질문으로 시작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2066544" y="42519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2157984" y="3246120"/>
            <a:ext cx="1517904" cy="2286000"/>
          </a:xfrm>
          <a:prstGeom prst="rect">
            <a:avLst/>
          </a:prstGeom>
          <a:solidFill>
            <a:srgbClr val="0D1626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157984" y="3246120"/>
            <a:ext cx="1517904" cy="54864"/>
          </a:xfrm>
          <a:prstGeom prst="rect">
            <a:avLst/>
          </a:prstGeom>
          <a:solidFill>
            <a:srgbClr val="5EC8FF"/>
          </a:solidFill>
          <a:ln/>
        </p:spPr>
      </p:sp>
      <p:sp>
        <p:nvSpPr>
          <p:cNvPr id="84" name="Text 82"/>
          <p:cNvSpPr/>
          <p:nvPr/>
        </p:nvSpPr>
        <p:spPr>
          <a:xfrm>
            <a:off x="2249424" y="34290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5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85" name="Text 83"/>
          <p:cNvSpPr/>
          <p:nvPr/>
        </p:nvSpPr>
        <p:spPr>
          <a:xfrm>
            <a:off x="2249424" y="397764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야구장 오픈월드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2249424" y="49377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NPC 상호작용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675888" y="42519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3767328" y="3246120"/>
            <a:ext cx="1517904" cy="2286000"/>
          </a:xfrm>
          <a:prstGeom prst="rect">
            <a:avLst/>
          </a:prstGeom>
          <a:solidFill>
            <a:srgbClr val="0D1626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767328" y="3246120"/>
            <a:ext cx="1517904" cy="5486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90" name="Text 88"/>
          <p:cNvSpPr/>
          <p:nvPr/>
        </p:nvSpPr>
        <p:spPr>
          <a:xfrm>
            <a:off x="3858768" y="34290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91" name="Text 89"/>
          <p:cNvSpPr/>
          <p:nvPr/>
        </p:nvSpPr>
        <p:spPr>
          <a:xfrm>
            <a:off x="3858768" y="397764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밸런스 게임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3858768" y="49377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· 동조율 측정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5285232" y="42519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5376672" y="3246120"/>
            <a:ext cx="1517904" cy="2286000"/>
          </a:xfrm>
          <a:prstGeom prst="rect">
            <a:avLst/>
          </a:prstGeom>
          <a:solidFill>
            <a:srgbClr val="0D1626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376672" y="3246120"/>
            <a:ext cx="1517904" cy="5486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96" name="Text 94"/>
          <p:cNvSpPr/>
          <p:nvPr/>
        </p:nvSpPr>
        <p:spPr>
          <a:xfrm>
            <a:off x="5468112" y="34290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97" name="Text 95"/>
          <p:cNvSpPr/>
          <p:nvPr/>
        </p:nvSpPr>
        <p:spPr>
          <a:xfrm>
            <a:off x="5468112" y="397764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 응원석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5468112" y="49377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라이브 경험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894576" y="42519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6986016" y="3246120"/>
            <a:ext cx="1517904" cy="2286000"/>
          </a:xfrm>
          <a:prstGeom prst="rect">
            <a:avLst/>
          </a:prstGeom>
          <a:solidFill>
            <a:srgbClr val="0D1626"/>
          </a:solidFill>
          <a:ln w="12700">
            <a:solidFill>
              <a:srgbClr val="3AFF7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986016" y="3246120"/>
            <a:ext cx="1517904" cy="54864"/>
          </a:xfrm>
          <a:prstGeom prst="rect">
            <a:avLst/>
          </a:prstGeom>
          <a:solidFill>
            <a:srgbClr val="3AFF7C"/>
          </a:solidFill>
          <a:ln/>
        </p:spPr>
      </p:sp>
      <p:sp>
        <p:nvSpPr>
          <p:cNvPr id="102" name="Text 100"/>
          <p:cNvSpPr/>
          <p:nvPr/>
        </p:nvSpPr>
        <p:spPr>
          <a:xfrm>
            <a:off x="7077456" y="34290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103" name="Text 101"/>
          <p:cNvSpPr/>
          <p:nvPr/>
        </p:nvSpPr>
        <p:spPr>
          <a:xfrm>
            <a:off x="7077456" y="397764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동조율 리포트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7077456" y="49377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후 자동 분석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8503920" y="42519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8595360" y="3246120"/>
            <a:ext cx="1517904" cy="2286000"/>
          </a:xfrm>
          <a:prstGeom prst="rect">
            <a:avLst/>
          </a:prstGeom>
          <a:solidFill>
            <a:srgbClr val="0D1626"/>
          </a:solidFill>
          <a:ln w="12700">
            <a:solidFill>
              <a:srgbClr val="3AFF7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595360" y="3246120"/>
            <a:ext cx="1517904" cy="54864"/>
          </a:xfrm>
          <a:prstGeom prst="rect">
            <a:avLst/>
          </a:prstGeom>
          <a:solidFill>
            <a:srgbClr val="3AFF7C"/>
          </a:solidFill>
          <a:ln/>
        </p:spPr>
      </p:sp>
      <p:sp>
        <p:nvSpPr>
          <p:cNvPr id="108" name="Text 106"/>
          <p:cNvSpPr/>
          <p:nvPr/>
        </p:nvSpPr>
        <p:spPr>
          <a:xfrm>
            <a:off x="8686800" y="34290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109" name="Text 107"/>
          <p:cNvSpPr/>
          <p:nvPr/>
        </p:nvSpPr>
        <p:spPr>
          <a:xfrm>
            <a:off x="8686800" y="397764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카드 업데이트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8686800" y="49377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카드가 진화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10113264" y="42519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</a:t>
            </a:r>
            <a:endParaRPr lang="en-US" sz="1600" dirty="0"/>
          </a:p>
        </p:txBody>
      </p:sp>
      <p:sp>
        <p:nvSpPr>
          <p:cNvPr id="112" name="Shape 110"/>
          <p:cNvSpPr/>
          <p:nvPr/>
        </p:nvSpPr>
        <p:spPr>
          <a:xfrm>
            <a:off x="10204704" y="3246120"/>
            <a:ext cx="1517904" cy="2286000"/>
          </a:xfrm>
          <a:prstGeom prst="rect">
            <a:avLst/>
          </a:prstGeom>
          <a:solidFill>
            <a:srgbClr val="0D1626"/>
          </a:solidFill>
          <a:ln w="12700">
            <a:solidFill>
              <a:srgbClr val="3AFF7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204704" y="3246120"/>
            <a:ext cx="1517904" cy="54864"/>
          </a:xfrm>
          <a:prstGeom prst="rect">
            <a:avLst/>
          </a:prstGeom>
          <a:solidFill>
            <a:srgbClr val="3AFF7C"/>
          </a:solidFill>
          <a:ln/>
        </p:spPr>
      </p:sp>
      <p:sp>
        <p:nvSpPr>
          <p:cNvPr id="114" name="Text 112"/>
          <p:cNvSpPr/>
          <p:nvPr/>
        </p:nvSpPr>
        <p:spPr>
          <a:xfrm>
            <a:off x="10296144" y="34290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200" dirty="0"/>
          </a:p>
        </p:txBody>
      </p:sp>
      <p:sp>
        <p:nvSpPr>
          <p:cNvPr id="115" name="Text 113"/>
          <p:cNvSpPr/>
          <p:nvPr/>
        </p:nvSpPr>
        <p:spPr>
          <a:xfrm>
            <a:off x="10296144" y="397764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후 연결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10296144" y="49377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간맥콜 · 제휴 코스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만남이 한 화면 안에서 끝나지 않는다 — 경기 전, 경기 중, 경기 후를 잇는 관계 경험 아키텍처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2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690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609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2412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52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064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75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298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0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231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8346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461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690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379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494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609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724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838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5953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068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183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298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412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652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064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475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887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298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634472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4864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CHAPTER · 06 · MVP · BUILD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 구현</a:t>
            </a:r>
            <a:endParaRPr lang="en-US" sz="4800" dirty="0"/>
          </a:p>
        </p:txBody>
      </p:sp>
      <p:sp>
        <p:nvSpPr>
          <p:cNvPr id="66" name="Text 64"/>
          <p:cNvSpPr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경험이 끊기지 않는 단독 시연형 MVP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863840" y="822960"/>
            <a:ext cx="3776472" cy="1371600"/>
          </a:xfrm>
          <a:prstGeom prst="rect">
            <a:avLst/>
          </a:prstGeom>
          <a:solidFill>
            <a:srgbClr val="0D16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63840" y="822960"/>
            <a:ext cx="3776472" cy="45720"/>
          </a:xfrm>
          <a:prstGeom prst="rect">
            <a:avLst/>
          </a:prstGeom>
          <a:solidFill>
            <a:srgbClr val="FFB627">
              <a:alpha val="6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04672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OF SCOPE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046720" y="1234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로그인 · 결제 · KBO API · GPT API · 멀티플레이는 미구현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48640" y="2331720"/>
            <a:ext cx="3703320" cy="187452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108960" y="2468880"/>
            <a:ext cx="1005840" cy="274320"/>
          </a:xfrm>
          <a:prstGeom prst="rect">
            <a:avLst/>
          </a:prstGeom>
          <a:solidFill>
            <a:srgbClr val="0D1626"/>
          </a:solidFill>
          <a:ln w="9525">
            <a:solidFill>
              <a:srgbClr val="3AFF7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08960" y="2468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BUILT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31520" y="24414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31520" y="2834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2400" dirty="0"/>
          </a:p>
        </p:txBody>
      </p:sp>
      <p:sp>
        <p:nvSpPr>
          <p:cNvPr id="76" name="Text 74"/>
          <p:cNvSpPr/>
          <p:nvPr/>
        </p:nvSpPr>
        <p:spPr>
          <a:xfrm>
            <a:off x="1325880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성향 카드 발급</a:t>
            </a:r>
            <a:endParaRPr lang="en-US" sz="1700" dirty="0"/>
          </a:p>
        </p:txBody>
      </p:sp>
      <p:sp>
        <p:nvSpPr>
          <p:cNvPr id="77" name="Text 75"/>
          <p:cNvSpPr/>
          <p:nvPr/>
        </p:nvSpPr>
        <p:spPr>
          <a:xfrm>
            <a:off x="731520" y="3520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기반 룰 분기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343400" y="2331720"/>
            <a:ext cx="3703320" cy="187452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03720" y="2468880"/>
            <a:ext cx="1005840" cy="274320"/>
          </a:xfrm>
          <a:prstGeom prst="rect">
            <a:avLst/>
          </a:prstGeom>
          <a:solidFill>
            <a:srgbClr val="0D1626"/>
          </a:solidFill>
          <a:ln w="9525">
            <a:solidFill>
              <a:srgbClr val="3AFF7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03720" y="2468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BUILT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526280" y="24414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4526280" y="2834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▣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5120640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야구장 오픈월드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4526280" y="3520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NPC 상호작용 흐름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38160" y="2331720"/>
            <a:ext cx="3703320" cy="187452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698480" y="2468880"/>
            <a:ext cx="1005840" cy="274320"/>
          </a:xfrm>
          <a:prstGeom prst="rect">
            <a:avLst/>
          </a:prstGeom>
          <a:solidFill>
            <a:srgbClr val="0D1626"/>
          </a:solidFill>
          <a:ln w="9525">
            <a:solidFill>
              <a:srgbClr val="3AFF7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698480" y="2468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BUILT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8321040" y="24414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8321040" y="2834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2400" dirty="0"/>
          </a:p>
        </p:txBody>
      </p:sp>
      <p:sp>
        <p:nvSpPr>
          <p:cNvPr id="90" name="Text 88"/>
          <p:cNvSpPr/>
          <p:nvPr/>
        </p:nvSpPr>
        <p:spPr>
          <a:xfrm>
            <a:off x="8915400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밸런스 게임 · 동조율</a:t>
            </a:r>
            <a:endParaRPr lang="en-US" sz="1700" dirty="0"/>
          </a:p>
        </p:txBody>
      </p:sp>
      <p:sp>
        <p:nvSpPr>
          <p:cNvPr id="91" name="Text 89"/>
          <p:cNvSpPr/>
          <p:nvPr/>
        </p:nvSpPr>
        <p:spPr>
          <a:xfrm>
            <a:off x="8321040" y="3520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비교 · 채팅 진입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548640" y="4343400"/>
            <a:ext cx="3703320" cy="187452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08960" y="4480560"/>
            <a:ext cx="1005840" cy="274320"/>
          </a:xfrm>
          <a:prstGeom prst="rect">
            <a:avLst/>
          </a:prstGeom>
          <a:solidFill>
            <a:srgbClr val="0D1626"/>
          </a:solidFill>
          <a:ln w="9525">
            <a:solidFill>
              <a:srgbClr val="3AFF7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10896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BUILT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731520" y="44531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731520" y="4846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400" dirty="0"/>
          </a:p>
        </p:txBody>
      </p:sp>
      <p:sp>
        <p:nvSpPr>
          <p:cNvPr id="97" name="Text 95"/>
          <p:cNvSpPr/>
          <p:nvPr/>
        </p:nvSpPr>
        <p:spPr>
          <a:xfrm>
            <a:off x="1325880" y="4892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 응원석</a:t>
            </a:r>
            <a:endParaRPr lang="en-US" sz="1700" dirty="0"/>
          </a:p>
        </p:txBody>
      </p:sp>
      <p:sp>
        <p:nvSpPr>
          <p:cNvPr id="98" name="Text 96"/>
          <p:cNvSpPr/>
          <p:nvPr/>
        </p:nvSpPr>
        <p:spPr>
          <a:xfrm>
            <a:off x="731520" y="5532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· 파도타기 · 배팅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4343400" y="4343400"/>
            <a:ext cx="3703320" cy="187452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903720" y="4480560"/>
            <a:ext cx="1005840" cy="274320"/>
          </a:xfrm>
          <a:prstGeom prst="rect">
            <a:avLst/>
          </a:prstGeom>
          <a:solidFill>
            <a:srgbClr val="0D1626"/>
          </a:solidFill>
          <a:ln w="9525">
            <a:solidFill>
              <a:srgbClr val="3AFF7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90372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BUILT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526280" y="44531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4526280" y="4846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◉</a:t>
            </a:r>
            <a:endParaRPr lang="en-US" sz="2400" dirty="0"/>
          </a:p>
        </p:txBody>
      </p:sp>
      <p:sp>
        <p:nvSpPr>
          <p:cNvPr id="104" name="Text 102"/>
          <p:cNvSpPr/>
          <p:nvPr/>
        </p:nvSpPr>
        <p:spPr>
          <a:xfrm>
            <a:off x="5120640" y="4892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동조율 리포트</a:t>
            </a:r>
            <a:endParaRPr lang="en-US" sz="1700" dirty="0"/>
          </a:p>
        </p:txBody>
      </p:sp>
      <p:sp>
        <p:nvSpPr>
          <p:cNvPr id="105" name="Text 103"/>
          <p:cNvSpPr/>
          <p:nvPr/>
        </p:nvSpPr>
        <p:spPr>
          <a:xfrm>
            <a:off x="4526280" y="5532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후 자동 분석 화면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8138160" y="4343400"/>
            <a:ext cx="3703320" cy="187452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698480" y="4480560"/>
            <a:ext cx="1005840" cy="274320"/>
          </a:xfrm>
          <a:prstGeom prst="rect">
            <a:avLst/>
          </a:prstGeom>
          <a:solidFill>
            <a:srgbClr val="0D1626"/>
          </a:solidFill>
          <a:ln w="9525">
            <a:solidFill>
              <a:srgbClr val="3AFF7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69848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BUILT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8321040" y="44531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8321040" y="4846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2400" dirty="0"/>
          </a:p>
        </p:txBody>
      </p:sp>
      <p:sp>
        <p:nvSpPr>
          <p:cNvPr id="111" name="Text 109"/>
          <p:cNvSpPr/>
          <p:nvPr/>
        </p:nvSpPr>
        <p:spPr>
          <a:xfrm>
            <a:off x="8915400" y="4892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후 연결</a:t>
            </a:r>
            <a:endParaRPr lang="en-US" sz="1700" dirty="0"/>
          </a:p>
        </p:txBody>
      </p:sp>
      <p:sp>
        <p:nvSpPr>
          <p:cNvPr id="112" name="Text 110"/>
          <p:cNvSpPr/>
          <p:nvPr/>
        </p:nvSpPr>
        <p:spPr>
          <a:xfrm>
            <a:off x="8321040" y="5532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간맥콜 · 제휴 코스 패키지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지금부터 이 흐름을 실제 데모로 보여드리겠습니다.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2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690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609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2412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52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064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75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298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0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231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8346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461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690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379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494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609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724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838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5953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068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183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298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412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652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064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475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887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298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634472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4864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CHAPTER · 07 · PAIN · POINTS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 Pain Point 해결</a:t>
            </a:r>
            <a:endParaRPr lang="en-US" sz="4400" dirty="0"/>
          </a:p>
        </p:txBody>
      </p:sp>
      <p:sp>
        <p:nvSpPr>
          <p:cNvPr id="66" name="Text 64"/>
          <p:cNvSpPr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야만추는 매칭 앱을 넘어 직관 경험 자체를 개선하는 플랫폼으로 확장된다.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548640" y="2331720"/>
            <a:ext cx="3776472" cy="406908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640" y="2331720"/>
            <a:ext cx="377647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9" name="Text 67"/>
          <p:cNvSpPr/>
          <p:nvPr/>
        </p:nvSpPr>
        <p:spPr>
          <a:xfrm>
            <a:off x="731520" y="2514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2039112" y="25877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PROXIMITY · ALERT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31520" y="301752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근처 성향 매칭 알림</a:t>
            </a:r>
            <a:endParaRPr lang="en-US" sz="2200" dirty="0"/>
          </a:p>
        </p:txBody>
      </p:sp>
      <p:sp>
        <p:nvSpPr>
          <p:cNvPr id="72" name="Shape 70"/>
          <p:cNvSpPr/>
          <p:nvPr/>
        </p:nvSpPr>
        <p:spPr>
          <a:xfrm>
            <a:off x="731520" y="3703320"/>
            <a:ext cx="3410712" cy="27432"/>
          </a:xfrm>
          <a:prstGeom prst="rect">
            <a:avLst/>
          </a:prstGeom>
          <a:solidFill>
            <a:srgbClr val="FFB627">
              <a:alpha val="5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73152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31520" y="4023360"/>
            <a:ext cx="3410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공간에 있어도 같은 성향 사람을 모른다.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3152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31520" y="4983480"/>
            <a:ext cx="3410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10m 안에 같은 성향 카드 유저가 들어오면 알림. "근처에 클러치 응원형 유저가 있습니다."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31520" y="5897880"/>
            <a:ext cx="3410712" cy="365760"/>
          </a:xfrm>
          <a:prstGeom prst="rect">
            <a:avLst/>
          </a:prstGeom>
          <a:solidFill>
            <a:srgbClr val="0D1626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1520" y="589788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오프라인 만남 트리거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416552" y="2331720"/>
            <a:ext cx="3776472" cy="406908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416552" y="2331720"/>
            <a:ext cx="377647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1" name="Text 79"/>
          <p:cNvSpPr/>
          <p:nvPr/>
        </p:nvSpPr>
        <p:spPr>
          <a:xfrm>
            <a:off x="4599432" y="2514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82" name="Text 80"/>
          <p:cNvSpPr/>
          <p:nvPr/>
        </p:nvSpPr>
        <p:spPr>
          <a:xfrm>
            <a:off x="5907024" y="25877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· DELIVERY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599432" y="301752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좌석 기반 음식 배달</a:t>
            </a:r>
            <a:endParaRPr lang="en-US" sz="2200" dirty="0"/>
          </a:p>
        </p:txBody>
      </p:sp>
      <p:sp>
        <p:nvSpPr>
          <p:cNvPr id="84" name="Shape 82"/>
          <p:cNvSpPr/>
          <p:nvPr/>
        </p:nvSpPr>
        <p:spPr>
          <a:xfrm>
            <a:off x="4599432" y="3703320"/>
            <a:ext cx="3410712" cy="27432"/>
          </a:xfrm>
          <a:prstGeom prst="rect">
            <a:avLst/>
          </a:prstGeom>
          <a:solidFill>
            <a:srgbClr val="FFB627">
              <a:alpha val="50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4599432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599432" y="4023360"/>
            <a:ext cx="3410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주문 → 픽업존까지 나가서 받기 → 경기 흐름 끊김.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4599432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599432" y="4983480"/>
            <a:ext cx="3410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· OCR로 좌석 인식 → 제휴 매장이 좌석까지 직접 배달.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4599432" y="5897880"/>
            <a:ext cx="3410712" cy="365760"/>
          </a:xfrm>
          <a:prstGeom prst="rect">
            <a:avLst/>
          </a:prstGeom>
          <a:solidFill>
            <a:srgbClr val="0D1626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99432" y="589788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제휴 매장 수익 + UX 개선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8284464" y="2331720"/>
            <a:ext cx="3776472" cy="4069080"/>
          </a:xfrm>
          <a:prstGeom prst="rect">
            <a:avLst/>
          </a:prstGeom>
          <a:solidFill>
            <a:srgbClr val="0C14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84464" y="2331720"/>
            <a:ext cx="377647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93" name="Text 91"/>
          <p:cNvSpPr/>
          <p:nvPr/>
        </p:nvSpPr>
        <p:spPr>
          <a:xfrm>
            <a:off x="8467344" y="2514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94" name="Text 92"/>
          <p:cNvSpPr/>
          <p:nvPr/>
        </p:nvSpPr>
        <p:spPr>
          <a:xfrm>
            <a:off x="9774936" y="25877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MASCOT · TAMA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8467344" y="301752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마스코트 다마고치</a:t>
            </a:r>
            <a:endParaRPr lang="en-US" sz="2200" dirty="0"/>
          </a:p>
        </p:txBody>
      </p:sp>
      <p:sp>
        <p:nvSpPr>
          <p:cNvPr id="96" name="Shape 94"/>
          <p:cNvSpPr/>
          <p:nvPr/>
        </p:nvSpPr>
        <p:spPr>
          <a:xfrm>
            <a:off x="8467344" y="3703320"/>
            <a:ext cx="3410712" cy="27432"/>
          </a:xfrm>
          <a:prstGeom prst="rect">
            <a:avLst/>
          </a:prstGeom>
          <a:solidFill>
            <a:srgbClr val="FFB627">
              <a:alpha val="50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8467344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8467344" y="4023360"/>
            <a:ext cx="3410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라이트 팬 · 여성 유저의 진입 장벽.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467344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8467344" y="4983480"/>
            <a:ext cx="3410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구단 마스코트를 키우는 다마고치 기능. 유니폼 · 먹이 · 광고 시청 보상 → 오픈월드에서 탑승.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8467344" y="5897880"/>
            <a:ext cx="3410712" cy="365760"/>
          </a:xfrm>
          <a:prstGeom prst="rect">
            <a:avLst/>
          </a:prstGeom>
          <a:solidFill>
            <a:srgbClr val="0D1626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467344" y="589788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광고 수익 + 신규 유입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2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690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609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2412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52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064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75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298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0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231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8346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461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690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379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494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609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724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838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5953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068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183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298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412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652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064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475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887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298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634472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4864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CHAPTER · 08 · OFF · SEASON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비수기 공략</a:t>
            </a:r>
            <a:endParaRPr lang="en-US" sz="4800" dirty="0"/>
          </a:p>
        </p:txBody>
      </p:sp>
      <p:sp>
        <p:nvSpPr>
          <p:cNvPr id="66" name="Text 64"/>
          <p:cNvSpPr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야구 비수기는 이탈 기간이 아니라, 다른 만추로 확장되는 기간이다.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48640" y="2377440"/>
            <a:ext cx="11091672" cy="1280160"/>
          </a:xfrm>
          <a:prstGeom prst="rect">
            <a:avLst/>
          </a:prstGeom>
          <a:solidFill>
            <a:srgbClr val="0D1626"/>
          </a:solidFill>
          <a:ln w="12700">
            <a:solidFill>
              <a:srgbClr val="1F2C4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640" y="2377440"/>
            <a:ext cx="11091672" cy="45720"/>
          </a:xfrm>
          <a:prstGeom prst="rect">
            <a:avLst/>
          </a:prstGeom>
          <a:solidFill>
            <a:srgbClr val="FFB627">
              <a:alpha val="6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7315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KBO · CALENDAR · 2026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52551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정규시즌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35431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비수기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77240" y="2834640"/>
            <a:ext cx="802386" cy="640080"/>
          </a:xfrm>
          <a:prstGeom prst="rect">
            <a:avLst/>
          </a:prstGeom>
          <a:solidFill>
            <a:srgbClr val="FF4D4D">
              <a:alpha val="70000"/>
            </a:srgbClr>
          </a:solidFill>
          <a:ln w="9525">
            <a:solidFill>
              <a:srgbClr val="FF4D4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7240" y="2834640"/>
            <a:ext cx="8023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671066" y="2834640"/>
            <a:ext cx="802386" cy="640080"/>
          </a:xfrm>
          <a:prstGeom prst="rect">
            <a:avLst/>
          </a:prstGeom>
          <a:solidFill>
            <a:srgbClr val="FF4D4D">
              <a:alpha val="70000"/>
            </a:srgbClr>
          </a:solidFill>
          <a:ln w="9525">
            <a:solidFill>
              <a:srgbClr val="FF4D4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671066" y="2834640"/>
            <a:ext cx="8023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2564892" y="2834640"/>
            <a:ext cx="802386" cy="640080"/>
          </a:xfrm>
          <a:prstGeom prst="rect">
            <a:avLst/>
          </a:prstGeom>
          <a:solidFill>
            <a:srgbClr val="FFB627">
              <a:alpha val="75000"/>
            </a:srgbClr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64892" y="2834640"/>
            <a:ext cx="8023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3458718" y="2834640"/>
            <a:ext cx="802386" cy="640080"/>
          </a:xfrm>
          <a:prstGeom prst="rect">
            <a:avLst/>
          </a:prstGeom>
          <a:solidFill>
            <a:srgbClr val="FFB627">
              <a:alpha val="75000"/>
            </a:srgbClr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58718" y="2834640"/>
            <a:ext cx="8023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4352544" y="2834640"/>
            <a:ext cx="802386" cy="640080"/>
          </a:xfrm>
          <a:prstGeom prst="rect">
            <a:avLst/>
          </a:prstGeom>
          <a:solidFill>
            <a:srgbClr val="FFB627">
              <a:alpha val="75000"/>
            </a:srgbClr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52544" y="2834640"/>
            <a:ext cx="8023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5246370" y="2834640"/>
            <a:ext cx="802386" cy="640080"/>
          </a:xfrm>
          <a:prstGeom prst="rect">
            <a:avLst/>
          </a:prstGeom>
          <a:solidFill>
            <a:srgbClr val="FFB627">
              <a:alpha val="75000"/>
            </a:srgbClr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46370" y="2834640"/>
            <a:ext cx="8023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140196" y="2834640"/>
            <a:ext cx="802386" cy="640080"/>
          </a:xfrm>
          <a:prstGeom prst="rect">
            <a:avLst/>
          </a:prstGeom>
          <a:solidFill>
            <a:srgbClr val="FFB627">
              <a:alpha val="75000"/>
            </a:srgbClr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40196" y="2834640"/>
            <a:ext cx="8023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7034022" y="2834640"/>
            <a:ext cx="802386" cy="640080"/>
          </a:xfrm>
          <a:prstGeom prst="rect">
            <a:avLst/>
          </a:prstGeom>
          <a:solidFill>
            <a:srgbClr val="FFB627">
              <a:alpha val="75000"/>
            </a:srgbClr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034022" y="2834640"/>
            <a:ext cx="8023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7927848" y="2834640"/>
            <a:ext cx="802386" cy="640080"/>
          </a:xfrm>
          <a:prstGeom prst="rect">
            <a:avLst/>
          </a:prstGeom>
          <a:solidFill>
            <a:srgbClr val="FFB627">
              <a:alpha val="75000"/>
            </a:srgbClr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927848" y="2834640"/>
            <a:ext cx="8023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8821674" y="2834640"/>
            <a:ext cx="802386" cy="640080"/>
          </a:xfrm>
          <a:prstGeom prst="rect">
            <a:avLst/>
          </a:prstGeom>
          <a:solidFill>
            <a:srgbClr val="FFB627">
              <a:alpha val="75000"/>
            </a:srgbClr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821674" y="2834640"/>
            <a:ext cx="8023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9715500" y="2834640"/>
            <a:ext cx="802386" cy="640080"/>
          </a:xfrm>
          <a:prstGeom prst="rect">
            <a:avLst/>
          </a:prstGeom>
          <a:solidFill>
            <a:srgbClr val="FF4D4D">
              <a:alpha val="70000"/>
            </a:srgbClr>
          </a:solidFill>
          <a:ln w="9525">
            <a:solidFill>
              <a:srgbClr val="FF4D4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15500" y="2834640"/>
            <a:ext cx="8023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10609326" y="2834640"/>
            <a:ext cx="802386" cy="640080"/>
          </a:xfrm>
          <a:prstGeom prst="rect">
            <a:avLst/>
          </a:prstGeom>
          <a:solidFill>
            <a:srgbClr val="FF4D4D">
              <a:alpha val="70000"/>
            </a:srgbClr>
          </a:solidFill>
          <a:ln w="9525">
            <a:solidFill>
              <a:srgbClr val="FF4D4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609326" y="2834640"/>
            <a:ext cx="8023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548640" y="3931920"/>
            <a:ext cx="3200400" cy="2194560"/>
          </a:xfrm>
          <a:prstGeom prst="rect">
            <a:avLst/>
          </a:prstGeom>
          <a:solidFill>
            <a:srgbClr val="0D1626"/>
          </a:solidFill>
          <a:ln w="19050">
            <a:solidFill>
              <a:srgbClr val="FFB62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3152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 · END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731520" y="4389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야만추</a:t>
            </a:r>
            <a:endParaRPr lang="en-US" sz="4400" dirty="0"/>
          </a:p>
        </p:txBody>
      </p:sp>
      <p:sp>
        <p:nvSpPr>
          <p:cNvPr id="99" name="Text 97"/>
          <p:cNvSpPr/>
          <p:nvPr/>
        </p:nvSpPr>
        <p:spPr>
          <a:xfrm>
            <a:off x="731520" y="5257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11–2월 사용자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731520" y="5577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성향 카드를 가지고 이동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3840480" y="4846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▶▶▶</a:t>
            </a:r>
            <a:endParaRPr lang="en-US" sz="2800" dirty="0"/>
          </a:p>
        </p:txBody>
      </p:sp>
      <p:sp>
        <p:nvSpPr>
          <p:cNvPr id="102" name="Text 100"/>
          <p:cNvSpPr/>
          <p:nvPr/>
        </p:nvSpPr>
        <p:spPr>
          <a:xfrm>
            <a:off x="3840480" y="5349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4754880" y="3931920"/>
            <a:ext cx="1691640" cy="2194560"/>
          </a:xfrm>
          <a:prstGeom prst="rect">
            <a:avLst/>
          </a:prstGeom>
          <a:solidFill>
            <a:srgbClr val="0C1426"/>
          </a:solidFill>
          <a:ln w="12700">
            <a:solidFill>
              <a:srgbClr val="3AFF7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0" y="3931920"/>
            <a:ext cx="1691640" cy="54864"/>
          </a:xfrm>
          <a:prstGeom prst="rect">
            <a:avLst/>
          </a:prstGeom>
          <a:solidFill>
            <a:srgbClr val="3AFF7C"/>
          </a:solidFill>
          <a:ln/>
        </p:spPr>
      </p:sp>
      <p:sp>
        <p:nvSpPr>
          <p:cNvPr id="105" name="Text 103"/>
          <p:cNvSpPr/>
          <p:nvPr/>
        </p:nvSpPr>
        <p:spPr>
          <a:xfrm>
            <a:off x="4846320" y="4160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축만추</a:t>
            </a:r>
            <a:endParaRPr lang="en-US" sz="2400" dirty="0"/>
          </a:p>
        </p:txBody>
      </p:sp>
      <p:sp>
        <p:nvSpPr>
          <p:cNvPr id="106" name="Text 104"/>
          <p:cNvSpPr/>
          <p:nvPr/>
        </p:nvSpPr>
        <p:spPr>
          <a:xfrm>
            <a:off x="4846320" y="48920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축구장 후반 몰입도 누적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6537960" y="3931920"/>
            <a:ext cx="1691640" cy="2194560"/>
          </a:xfrm>
          <a:prstGeom prst="rect">
            <a:avLst/>
          </a:prstGeom>
          <a:solidFill>
            <a:srgbClr val="0C1426"/>
          </a:solidFill>
          <a:ln w="12700">
            <a:solidFill>
              <a:srgbClr val="3AFF7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537960" y="3931920"/>
            <a:ext cx="1691640" cy="54864"/>
          </a:xfrm>
          <a:prstGeom prst="rect">
            <a:avLst/>
          </a:prstGeom>
          <a:solidFill>
            <a:srgbClr val="3AFF7C"/>
          </a:solidFill>
          <a:ln/>
        </p:spPr>
      </p:sp>
      <p:sp>
        <p:nvSpPr>
          <p:cNvPr id="109" name="Text 107"/>
          <p:cNvSpPr/>
          <p:nvPr/>
        </p:nvSpPr>
        <p:spPr>
          <a:xfrm>
            <a:off x="6629400" y="4160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배만추</a:t>
            </a:r>
            <a:endParaRPr lang="en-US" sz="2400" dirty="0"/>
          </a:p>
        </p:txBody>
      </p:sp>
      <p:sp>
        <p:nvSpPr>
          <p:cNvPr id="110" name="Text 108"/>
          <p:cNvSpPr/>
          <p:nvPr/>
        </p:nvSpPr>
        <p:spPr>
          <a:xfrm>
            <a:off x="6629400" y="48920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협동 플레이 데이터 누적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8321040" y="3931920"/>
            <a:ext cx="1691640" cy="2194560"/>
          </a:xfrm>
          <a:prstGeom prst="rect">
            <a:avLst/>
          </a:prstGeom>
          <a:solidFill>
            <a:srgbClr val="0C1426"/>
          </a:solidFill>
          <a:ln w="12700">
            <a:solidFill>
              <a:srgbClr val="3AFF7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321040" y="3931920"/>
            <a:ext cx="1691640" cy="54864"/>
          </a:xfrm>
          <a:prstGeom prst="rect">
            <a:avLst/>
          </a:prstGeom>
          <a:solidFill>
            <a:srgbClr val="3AFF7C"/>
          </a:solidFill>
          <a:ln/>
        </p:spPr>
      </p:sp>
      <p:sp>
        <p:nvSpPr>
          <p:cNvPr id="113" name="Text 111"/>
          <p:cNvSpPr/>
          <p:nvPr/>
        </p:nvSpPr>
        <p:spPr>
          <a:xfrm>
            <a:off x="8412480" y="4160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요만추</a:t>
            </a:r>
            <a:endParaRPr lang="en-US" sz="2400" dirty="0"/>
          </a:p>
        </p:txBody>
      </p:sp>
      <p:sp>
        <p:nvSpPr>
          <p:cNvPr id="114" name="Text 112"/>
          <p:cNvSpPr/>
          <p:nvPr/>
        </p:nvSpPr>
        <p:spPr>
          <a:xfrm>
            <a:off x="8412480" y="48920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스타일 · 취향 누적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10104120" y="3931920"/>
            <a:ext cx="1691640" cy="2194560"/>
          </a:xfrm>
          <a:prstGeom prst="rect">
            <a:avLst/>
          </a:prstGeom>
          <a:solidFill>
            <a:srgbClr val="0C1426"/>
          </a:solidFill>
          <a:ln w="12700">
            <a:solidFill>
              <a:srgbClr val="3AFF7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104120" y="3931920"/>
            <a:ext cx="1691640" cy="54864"/>
          </a:xfrm>
          <a:prstGeom prst="rect">
            <a:avLst/>
          </a:prstGeom>
          <a:solidFill>
            <a:srgbClr val="3AFF7C"/>
          </a:solidFill>
          <a:ln/>
        </p:spPr>
      </p:sp>
      <p:sp>
        <p:nvSpPr>
          <p:cNvPr id="117" name="Text 115"/>
          <p:cNvSpPr/>
          <p:nvPr/>
        </p:nvSpPr>
        <p:spPr>
          <a:xfrm>
            <a:off x="10195560" y="4160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애만추</a:t>
            </a:r>
            <a:endParaRPr lang="en-US" sz="2400" dirty="0"/>
          </a:p>
        </p:txBody>
      </p:sp>
      <p:sp>
        <p:nvSpPr>
          <p:cNvPr id="118" name="Text 116"/>
          <p:cNvSpPr/>
          <p:nvPr/>
        </p:nvSpPr>
        <p:spPr>
          <a:xfrm>
            <a:off x="10195560" y="48920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6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취향 · 몰입 누적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48640" y="626364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시즌에 의존하지 않는 구조 — 카드는 멈추지 않는다.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2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690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609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2412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5276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06424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7572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298680" y="164592"/>
            <a:ext cx="201168" cy="45720"/>
          </a:xfrm>
          <a:prstGeom prst="rect">
            <a:avLst/>
          </a:prstGeom>
          <a:solidFill>
            <a:srgbClr val="FFB627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0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231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8346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461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690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379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494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609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724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838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5953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068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183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298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412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65276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06424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47572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88720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298680" y="6647688"/>
            <a:ext cx="201168" cy="45720"/>
          </a:xfrm>
          <a:prstGeom prst="rect">
            <a:avLst/>
          </a:prstGeom>
          <a:solidFill>
            <a:srgbClr val="3AFF7C">
              <a:alpha val="5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634472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4864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CLOSING · THANK · YOU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265676" y="914400"/>
            <a:ext cx="3657600" cy="457200"/>
          </a:xfrm>
          <a:prstGeom prst="rect">
            <a:avLst/>
          </a:prstGeom>
          <a:solidFill>
            <a:srgbClr val="0D1626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65676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FINAL ★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만추 Corporation</a:t>
            </a:r>
            <a:endParaRPr lang="en-US" sz="8000" dirty="0"/>
          </a:p>
        </p:txBody>
      </p:sp>
      <p:sp>
        <p:nvSpPr>
          <p:cNvPr id="68" name="Text 66"/>
          <p:cNvSpPr/>
          <p:nvPr/>
        </p:nvSpPr>
        <p:spPr>
          <a:xfrm>
            <a:off x="457200" y="31089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만남을 강요하지 않고,</a:t>
            </a:r>
            <a:endParaRPr lang="en-US" sz="3000" dirty="0"/>
          </a:p>
        </p:txBody>
      </p:sp>
      <p:sp>
        <p:nvSpPr>
          <p:cNvPr id="69" name="Text 67"/>
          <p:cNvSpPr/>
          <p:nvPr/>
        </p:nvSpPr>
        <p:spPr>
          <a:xfrm>
            <a:off x="457200" y="3749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F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관계가 생길 조건을 설계합니다.</a:t>
            </a:r>
            <a:endParaRPr lang="en-US" sz="3000" dirty="0"/>
          </a:p>
        </p:txBody>
      </p:sp>
      <p:sp>
        <p:nvSpPr>
          <p:cNvPr id="70" name="Shape 68"/>
          <p:cNvSpPr/>
          <p:nvPr/>
        </p:nvSpPr>
        <p:spPr>
          <a:xfrm>
            <a:off x="3808476" y="4526280"/>
            <a:ext cx="4572000" cy="457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1" name="Shape 69"/>
          <p:cNvSpPr/>
          <p:nvPr/>
        </p:nvSpPr>
        <p:spPr>
          <a:xfrm>
            <a:off x="928116" y="4846320"/>
            <a:ext cx="3200400" cy="868680"/>
          </a:xfrm>
          <a:prstGeom prst="rect">
            <a:avLst/>
          </a:prstGeom>
          <a:solidFill>
            <a:srgbClr val="0D1626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28116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· PLACE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28116" y="5212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공간</a:t>
            </a:r>
            <a:endParaRPr lang="en-US" sz="2200" dirty="0"/>
          </a:p>
        </p:txBody>
      </p:sp>
      <p:sp>
        <p:nvSpPr>
          <p:cNvPr id="74" name="Shape 72"/>
          <p:cNvSpPr/>
          <p:nvPr/>
        </p:nvSpPr>
        <p:spPr>
          <a:xfrm>
            <a:off x="4311396" y="4846320"/>
            <a:ext cx="3200400" cy="868680"/>
          </a:xfrm>
          <a:prstGeom prst="rect">
            <a:avLst/>
          </a:prstGeom>
          <a:solidFill>
            <a:srgbClr val="0D1626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11396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· MOMENT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311396" y="5212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순간</a:t>
            </a:r>
            <a:endParaRPr lang="en-US" sz="2200" dirty="0"/>
          </a:p>
        </p:txBody>
      </p:sp>
      <p:sp>
        <p:nvSpPr>
          <p:cNvPr id="77" name="Shape 75"/>
          <p:cNvSpPr/>
          <p:nvPr/>
        </p:nvSpPr>
        <p:spPr>
          <a:xfrm>
            <a:off x="7694676" y="4846320"/>
            <a:ext cx="3200400" cy="868680"/>
          </a:xfrm>
          <a:prstGeom prst="rect">
            <a:avLst/>
          </a:prstGeom>
          <a:solidFill>
            <a:srgbClr val="0D1626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94676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AF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· EMOTION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694676" y="5212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감정</a:t>
            </a:r>
            <a:endParaRPr lang="en-US" sz="2200" dirty="0"/>
          </a:p>
        </p:txBody>
      </p:sp>
      <p:sp>
        <p:nvSpPr>
          <p:cNvPr id="80" name="Text 78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· YOU · FOR · WATCHING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감사합니다 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만추 Corporation</dc:title>
  <dc:subject>PptxGenJS Presentation</dc:subject>
  <dc:creator>Manchu Corporation</dc:creator>
  <cp:lastModifiedBy>Manchu Corporation</cp:lastModifiedBy>
  <cp:revision>1</cp:revision>
  <dcterms:created xsi:type="dcterms:W3CDTF">2026-05-20T07:05:51Z</dcterms:created>
  <dcterms:modified xsi:type="dcterms:W3CDTF">2026-05-20T07:05:51Z</dcterms:modified>
</cp:coreProperties>
</file>